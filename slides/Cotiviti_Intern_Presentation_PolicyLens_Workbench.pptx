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Traceability</c:v>
                  </c:pt>
                  <c:pt idx="1">
                    <c:v>QA coverage</c:v>
                  </c:pt>
                  <c:pt idx="2">
                    <c:v>Review speed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45</c:v>
                </c:pt>
                <c:pt idx="1">
                  <c:v>35</c:v>
                </c:pt>
                <c:pt idx="2">
                  <c:v>40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Workbench target</c:v>
                </c:pt>
              </c:strCache>
            </c:strRef>
          </c:tx>
          <c:spPr>
            <a:solidFill>
              <a:srgbClr val="4F81B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Traceability</c:v>
                  </c:pt>
                  <c:pt idx="1">
                    <c:v>QA coverage</c:v>
                  </c:pt>
                  <c:pt idx="2">
                    <c:v>Review speed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95</c:v>
                </c:pt>
                <c:pt idx="1">
                  <c:v>90</c:v>
                </c:pt>
                <c:pt idx="2">
                  <c:v>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product name and set the boundary: this is a synthetic, human-in-the-loop policy operations workbench, not a clinical or claims decision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the messy gap between written healthcare policy and the systems that apply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clear this was a strategic selection. The project is more useful because it avoids risky clinical automation and focuses on operational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as the product backbone. The deck and video should keep coming back to the lifecycle: change, rule, test, review, audit.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gives proof that the app is ready. Mention that tests pass and build succeeds.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the video, run this exact scenario: show failure, change weeks to 6, show criteria met but still human review required.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to Cotiviti without overclaiming. Talk about payment integrity, risk adjustment, quality, interoperability, and payer workflow.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where we sound responsible. A healthcare evaluator will appreciate that the product is cautious and governed.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that we know how to extend this into AI/RAG and standards alignment, but we did not overclaim those as completed MVP features.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crisply and repeat the one-sentence value proposition.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6510528"/>
            <a:ext cx="11384280" cy="0"/>
          </a:xfrm>
          <a:prstGeom prst="line">
            <a:avLst/>
          </a:prstGeom>
          <a:noFill/>
          <a:ln w="12700">
            <a:solidFill>
              <a:srgbClr val="CBD5E1">
                <a:alpha val="6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65392"/>
            <a:ext cx="5669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PolicyLens Workbench · Synthetic POC · No PHI</a:t>
            </a:r>
            <a:endParaRPr lang="en-US" sz="7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8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8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1042416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PolicyLens Workbench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76656" y="1783080"/>
            <a:ext cx="6080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AI-native healthcare content management: from policy text to auditable operational rules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770632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Gaurvendra Pratap Singh Pundhir | University of Arizona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85800" y="3273552"/>
            <a:ext cx="1325880" cy="292608"/>
          </a:xfrm>
          <a:prstGeom prst="roundRect">
            <a:avLst>
              <a:gd name="adj" fmla="val 21875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3342132"/>
            <a:ext cx="11795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Synthetic data only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157984" y="3273552"/>
            <a:ext cx="822960" cy="292608"/>
          </a:xfrm>
          <a:prstGeom prst="roundRect">
            <a:avLst>
              <a:gd name="adj" fmla="val 21875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31136" y="3342132"/>
            <a:ext cx="6766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PHI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127248" y="3273552"/>
            <a:ext cx="1600200" cy="292608"/>
          </a:xfrm>
          <a:prstGeom prst="roundRect">
            <a:avLst>
              <a:gd name="adj" fmla="val 21875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3342132"/>
            <a:ext cx="1453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2400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review required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7452360" y="914400"/>
            <a:ext cx="4160520" cy="452628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0" y="129844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Policy update → Rules → Tests → Audit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754112" y="2148840"/>
            <a:ext cx="1045464" cy="658368"/>
          </a:xfrm>
          <a:prstGeom prst="roundRect">
            <a:avLst>
              <a:gd name="adj" fmla="val 8333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45552" y="2304288"/>
            <a:ext cx="862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2563EB"/>
                </a:solidFill>
              </a:rPr>
              <a:t>Policy</a:t>
            </a:r>
            <a:endParaRPr lang="en-US" sz="840" dirty="0"/>
          </a:p>
        </p:txBody>
      </p:sp>
      <p:sp>
        <p:nvSpPr>
          <p:cNvPr id="16" name="Text 14"/>
          <p:cNvSpPr/>
          <p:nvPr/>
        </p:nvSpPr>
        <p:spPr>
          <a:xfrm>
            <a:off x="7845552" y="2505456"/>
            <a:ext cx="8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64748B"/>
                </a:solidFill>
              </a:rPr>
              <a:t>old vs new</a:t>
            </a:r>
            <a:endParaRPr lang="en-US" sz="740" dirty="0"/>
          </a:p>
        </p:txBody>
      </p:sp>
      <p:sp>
        <p:nvSpPr>
          <p:cNvPr id="17" name="Shape 15"/>
          <p:cNvSpPr/>
          <p:nvPr/>
        </p:nvSpPr>
        <p:spPr>
          <a:xfrm>
            <a:off x="8945880" y="2148840"/>
            <a:ext cx="1045464" cy="658368"/>
          </a:xfrm>
          <a:prstGeom prst="round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37320" y="2304288"/>
            <a:ext cx="862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0F766E"/>
                </a:solidFill>
              </a:rPr>
              <a:t>Rules</a:t>
            </a:r>
            <a:endParaRPr lang="en-US" sz="840" dirty="0"/>
          </a:p>
        </p:txBody>
      </p:sp>
      <p:sp>
        <p:nvSpPr>
          <p:cNvPr id="19" name="Text 17"/>
          <p:cNvSpPr/>
          <p:nvPr/>
        </p:nvSpPr>
        <p:spPr>
          <a:xfrm>
            <a:off x="9037320" y="2505456"/>
            <a:ext cx="8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64748B"/>
                </a:solidFill>
              </a:rPr>
              <a:t>candidate logic</a:t>
            </a:r>
            <a:endParaRPr lang="en-US" sz="740" dirty="0"/>
          </a:p>
        </p:txBody>
      </p:sp>
      <p:sp>
        <p:nvSpPr>
          <p:cNvPr id="20" name="Shape 18"/>
          <p:cNvSpPr/>
          <p:nvPr/>
        </p:nvSpPr>
        <p:spPr>
          <a:xfrm>
            <a:off x="10137648" y="2148840"/>
            <a:ext cx="1045464" cy="658368"/>
          </a:xfrm>
          <a:prstGeom prst="roundRect">
            <a:avLst>
              <a:gd name="adj" fmla="val 8333"/>
            </a:avLst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229088" y="2304288"/>
            <a:ext cx="862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92400E"/>
                </a:solidFill>
              </a:rPr>
              <a:t>Tests</a:t>
            </a:r>
            <a:endParaRPr lang="en-US" sz="840" dirty="0"/>
          </a:p>
        </p:txBody>
      </p:sp>
      <p:sp>
        <p:nvSpPr>
          <p:cNvPr id="22" name="Text 20"/>
          <p:cNvSpPr/>
          <p:nvPr/>
        </p:nvSpPr>
        <p:spPr>
          <a:xfrm>
            <a:off x="10229088" y="2505456"/>
            <a:ext cx="8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64748B"/>
                </a:solidFill>
              </a:rPr>
              <a:t>synthetic QA</a:t>
            </a:r>
            <a:endParaRPr lang="en-US" sz="740" dirty="0"/>
          </a:p>
        </p:txBody>
      </p:sp>
      <p:sp>
        <p:nvSpPr>
          <p:cNvPr id="23" name="Shape 21"/>
          <p:cNvSpPr/>
          <p:nvPr/>
        </p:nvSpPr>
        <p:spPr>
          <a:xfrm>
            <a:off x="7754112" y="3246120"/>
            <a:ext cx="1045464" cy="658368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45552" y="3401568"/>
            <a:ext cx="862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0F172A"/>
                </a:solidFill>
              </a:rPr>
              <a:t>Review</a:t>
            </a:r>
            <a:endParaRPr lang="en-US" sz="840" dirty="0"/>
          </a:p>
        </p:txBody>
      </p:sp>
      <p:sp>
        <p:nvSpPr>
          <p:cNvPr id="25" name="Text 23"/>
          <p:cNvSpPr/>
          <p:nvPr/>
        </p:nvSpPr>
        <p:spPr>
          <a:xfrm>
            <a:off x="7845552" y="3602736"/>
            <a:ext cx="8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64748B"/>
                </a:solidFill>
              </a:rPr>
              <a:t>approve/notes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8945880" y="3246120"/>
            <a:ext cx="1045464" cy="658368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037320" y="3401568"/>
            <a:ext cx="862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0F172A"/>
                </a:solidFill>
              </a:rPr>
              <a:t>Scenario</a:t>
            </a:r>
            <a:endParaRPr lang="en-US" sz="840" dirty="0"/>
          </a:p>
        </p:txBody>
      </p:sp>
      <p:sp>
        <p:nvSpPr>
          <p:cNvPr id="28" name="Text 26"/>
          <p:cNvSpPr/>
          <p:nvPr/>
        </p:nvSpPr>
        <p:spPr>
          <a:xfrm>
            <a:off x="9037320" y="3602736"/>
            <a:ext cx="8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64748B"/>
                </a:solidFill>
              </a:rPr>
              <a:t>run inputs</a:t>
            </a:r>
            <a:endParaRPr lang="en-US" sz="740" dirty="0"/>
          </a:p>
        </p:txBody>
      </p:sp>
      <p:sp>
        <p:nvSpPr>
          <p:cNvPr id="29" name="Shape 27"/>
          <p:cNvSpPr/>
          <p:nvPr/>
        </p:nvSpPr>
        <p:spPr>
          <a:xfrm>
            <a:off x="10137648" y="3246120"/>
            <a:ext cx="1045464" cy="658368"/>
          </a:xfrm>
          <a:prstGeom prst="roundRect">
            <a:avLst>
              <a:gd name="adj" fmla="val 8333"/>
            </a:avLst>
          </a:prstGeom>
          <a:solidFill>
            <a:srgbClr val="EDE9FE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229088" y="3401568"/>
            <a:ext cx="862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7C3AED"/>
                </a:solidFill>
              </a:rPr>
              <a:t>Audit</a:t>
            </a:r>
            <a:endParaRPr lang="en-US" sz="840" dirty="0"/>
          </a:p>
        </p:txBody>
      </p:sp>
      <p:sp>
        <p:nvSpPr>
          <p:cNvPr id="31" name="Text 29"/>
          <p:cNvSpPr/>
          <p:nvPr/>
        </p:nvSpPr>
        <p:spPr>
          <a:xfrm>
            <a:off x="10229088" y="3602736"/>
            <a:ext cx="8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64748B"/>
                </a:solidFill>
              </a:rPr>
              <a:t>export package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566928" y="6144768"/>
            <a:ext cx="10698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Assessment deliverable: report + POC + slide deck + video-ready story.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8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</a:t>
            </a:r>
            <a:endParaRPr lang="en-US" sz="88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real problem: policy changes are hard to operationalize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85216" y="1234440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Healthcare policy content is not just documentation. It becomes rules, workflows, reviewer guidance, provider communication, and audit evidence.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58368" y="2057400"/>
            <a:ext cx="17373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2212848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0F172A"/>
                </a:solidFill>
              </a:rPr>
              <a:t>Policy text</a:t>
            </a:r>
            <a:endParaRPr lang="en-US" sz="840" dirty="0"/>
          </a:p>
        </p:txBody>
      </p:sp>
      <p:sp>
        <p:nvSpPr>
          <p:cNvPr id="7" name="Text 5"/>
          <p:cNvSpPr/>
          <p:nvPr/>
        </p:nvSpPr>
        <p:spPr>
          <a:xfrm>
            <a:off x="749808" y="2414016"/>
            <a:ext cx="1554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64748B"/>
                </a:solidFill>
              </a:rPr>
              <a:t>PDFs, portals, contracts</a:t>
            </a:r>
            <a:endParaRPr lang="en-US" sz="740" dirty="0"/>
          </a:p>
        </p:txBody>
      </p:sp>
      <p:sp>
        <p:nvSpPr>
          <p:cNvPr id="8" name="Shape 6"/>
          <p:cNvSpPr/>
          <p:nvPr/>
        </p:nvSpPr>
        <p:spPr>
          <a:xfrm>
            <a:off x="2505456" y="2057400"/>
            <a:ext cx="17373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96896" y="2212848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0F172A"/>
                </a:solidFill>
              </a:rPr>
              <a:t>Interpretation</a:t>
            </a:r>
            <a:endParaRPr lang="en-US" sz="840" dirty="0"/>
          </a:p>
        </p:txBody>
      </p:sp>
      <p:sp>
        <p:nvSpPr>
          <p:cNvPr id="10" name="Text 8"/>
          <p:cNvSpPr/>
          <p:nvPr/>
        </p:nvSpPr>
        <p:spPr>
          <a:xfrm>
            <a:off x="2596896" y="2414016"/>
            <a:ext cx="1554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64748B"/>
                </a:solidFill>
              </a:rPr>
              <a:t>analyst review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4352544" y="2057400"/>
            <a:ext cx="17373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43984" y="2212848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0F172A"/>
                </a:solidFill>
              </a:rPr>
              <a:t>Rule logic</a:t>
            </a:r>
            <a:endParaRPr lang="en-US" sz="840" dirty="0"/>
          </a:p>
        </p:txBody>
      </p:sp>
      <p:sp>
        <p:nvSpPr>
          <p:cNvPr id="13" name="Text 11"/>
          <p:cNvSpPr/>
          <p:nvPr/>
        </p:nvSpPr>
        <p:spPr>
          <a:xfrm>
            <a:off x="4443984" y="2414016"/>
            <a:ext cx="1554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64748B"/>
                </a:solidFill>
              </a:rPr>
              <a:t>conditions + exceptions</a:t>
            </a:r>
            <a:endParaRPr lang="en-US" sz="740" dirty="0"/>
          </a:p>
        </p:txBody>
      </p:sp>
      <p:sp>
        <p:nvSpPr>
          <p:cNvPr id="14" name="Shape 12"/>
          <p:cNvSpPr/>
          <p:nvPr/>
        </p:nvSpPr>
        <p:spPr>
          <a:xfrm>
            <a:off x="6199632" y="2057400"/>
            <a:ext cx="17373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91072" y="2212848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0F172A"/>
                </a:solidFill>
              </a:rPr>
              <a:t>QA</a:t>
            </a:r>
            <a:endParaRPr lang="en-US" sz="840" dirty="0"/>
          </a:p>
        </p:txBody>
      </p:sp>
      <p:sp>
        <p:nvSpPr>
          <p:cNvPr id="16" name="Text 14"/>
          <p:cNvSpPr/>
          <p:nvPr/>
        </p:nvSpPr>
        <p:spPr>
          <a:xfrm>
            <a:off x="6291072" y="2414016"/>
            <a:ext cx="1554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64748B"/>
                </a:solidFill>
              </a:rPr>
              <a:t>test cases</a:t>
            </a:r>
            <a:endParaRPr lang="en-US" sz="740" dirty="0"/>
          </a:p>
        </p:txBody>
      </p:sp>
      <p:sp>
        <p:nvSpPr>
          <p:cNvPr id="17" name="Shape 15"/>
          <p:cNvSpPr/>
          <p:nvPr/>
        </p:nvSpPr>
        <p:spPr>
          <a:xfrm>
            <a:off x="8046720" y="2057400"/>
            <a:ext cx="17373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38160" y="2212848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0F172A"/>
                </a:solidFill>
              </a:rPr>
              <a:t>Ops</a:t>
            </a:r>
            <a:endParaRPr lang="en-US" sz="840" dirty="0"/>
          </a:p>
        </p:txBody>
      </p:sp>
      <p:sp>
        <p:nvSpPr>
          <p:cNvPr id="19" name="Text 17"/>
          <p:cNvSpPr/>
          <p:nvPr/>
        </p:nvSpPr>
        <p:spPr>
          <a:xfrm>
            <a:off x="8138160" y="2414016"/>
            <a:ext cx="1554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64748B"/>
                </a:solidFill>
              </a:rPr>
              <a:t>review + explanation</a:t>
            </a:r>
            <a:endParaRPr lang="en-US" sz="740" dirty="0"/>
          </a:p>
        </p:txBody>
      </p:sp>
      <p:sp>
        <p:nvSpPr>
          <p:cNvPr id="20" name="Shape 18"/>
          <p:cNvSpPr/>
          <p:nvPr/>
        </p:nvSpPr>
        <p:spPr>
          <a:xfrm>
            <a:off x="9893808" y="2057400"/>
            <a:ext cx="17373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985248" y="2212848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0F172A"/>
                </a:solidFill>
              </a:rPr>
              <a:t>Audit</a:t>
            </a:r>
            <a:endParaRPr lang="en-US" sz="840" dirty="0"/>
          </a:p>
        </p:txBody>
      </p:sp>
      <p:sp>
        <p:nvSpPr>
          <p:cNvPr id="22" name="Text 20"/>
          <p:cNvSpPr/>
          <p:nvPr/>
        </p:nvSpPr>
        <p:spPr>
          <a:xfrm>
            <a:off x="9985248" y="2414016"/>
            <a:ext cx="1554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64748B"/>
                </a:solidFill>
              </a:rPr>
              <a:t>source trace</a:t>
            </a:r>
            <a:endParaRPr lang="en-US" sz="740" dirty="0"/>
          </a:p>
        </p:txBody>
      </p:sp>
      <p:sp>
        <p:nvSpPr>
          <p:cNvPr id="23" name="Shape 21"/>
          <p:cNvSpPr/>
          <p:nvPr/>
        </p:nvSpPr>
        <p:spPr>
          <a:xfrm>
            <a:off x="713232" y="3657600"/>
            <a:ext cx="33375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3232" y="3657600"/>
            <a:ext cx="73152" cy="10972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3794760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Slow handoff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14400" y="4096512"/>
            <a:ext cx="297180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Policy, clinical review, engineering, QA, and compliance teams often work from different interpretations.</a:t>
            </a:r>
            <a:endParaRPr lang="en-US" sz="920" dirty="0"/>
          </a:p>
        </p:txBody>
      </p:sp>
      <p:sp>
        <p:nvSpPr>
          <p:cNvPr id="27" name="Shape 25"/>
          <p:cNvSpPr/>
          <p:nvPr/>
        </p:nvSpPr>
        <p:spPr>
          <a:xfrm>
            <a:off x="4425696" y="3657600"/>
            <a:ext cx="33375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425696" y="3657600"/>
            <a:ext cx="73152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26864" y="3794760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Weak traceability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626864" y="4096512"/>
            <a:ext cx="297180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reviewer may know the outcome, but not the exact clause-to-rule-to-decision lineage.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8138160" y="3657600"/>
            <a:ext cx="33375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38160" y="3657600"/>
            <a:ext cx="73152" cy="1097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39328" y="3794760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operational risk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339328" y="4096512"/>
            <a:ext cx="297180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Incorrect logic can create payment errors, provider abrasion, appeals, and compliance exposure.</a:t>
            </a:r>
            <a:endParaRPr lang="en-US" sz="920" dirty="0"/>
          </a:p>
        </p:txBody>
      </p:sp>
      <p:sp>
        <p:nvSpPr>
          <p:cNvPr id="35" name="Text 33"/>
          <p:cNvSpPr/>
          <p:nvPr/>
        </p:nvSpPr>
        <p:spPr>
          <a:xfrm>
            <a:off x="566928" y="6144768"/>
            <a:ext cx="10698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product value is not “AI summarization”; it is governed policy-to-operations transformation.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8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TOPIC CHOICE</a:t>
            </a:r>
            <a:endParaRPr lang="en-US" sz="88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topic beats a generic AI healthcare demo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94360" y="11155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334155"/>
                </a:solidFill>
              </a:rPr>
              <a:t>I chose Content Management in Health Care because it is the most directly aligned with payer operations, payment integrity, prior authorization, documentation requirements, and auditability.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85800" y="1965960"/>
            <a:ext cx="342900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965960"/>
            <a:ext cx="73152" cy="25603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210312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Topic 1: Clinical NLP / OCR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86968" y="2404872"/>
            <a:ext cx="3063240" cy="1993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Valuable, but easy to become a generic note summarizer. It also needs realistic clinical documents to feel credible and raises PHI concerns.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4379976" y="1965960"/>
            <a:ext cx="342900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79976" y="1965960"/>
            <a:ext cx="73152" cy="2560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81144" y="210312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Topic 2: Decision AI / prediction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81144" y="2404872"/>
            <a:ext cx="3063240" cy="1993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Technically impressive, but harder to prove without claims data. If framed as treatment decisioning, it creates safety and regulatory risk.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8074152" y="1965960"/>
            <a:ext cx="342900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74152" y="1965960"/>
            <a:ext cx="73152" cy="2560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75320" y="210312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Topic 3: Policy → rules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75320" y="2404872"/>
            <a:ext cx="3063240" cy="1993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 company-usable: change analysis, rule extraction, QA generation, reviewer workflow, denial/pend rationale, and audit packages.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1920240" y="5166360"/>
            <a:ext cx="8321040" cy="585216"/>
          </a:xfrm>
          <a:prstGeom prst="roundRect">
            <a:avLst>
              <a:gd name="adj" fmla="val 12500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57400" y="534009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Final thesis: healthcare policy content should become a governed operating layer, not a static document library.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8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CONCEPT</a:t>
            </a:r>
            <a:endParaRPr lang="en-US" sz="88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PolicyLens Workbench: product workflow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94360" y="1143000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A healthcare policy operations workbench that turns policy updates into structured rules, synthetic tests, reviewer actions, and audit-ready evidence.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12648" y="1956816"/>
            <a:ext cx="2077517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2112264"/>
            <a:ext cx="189463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0F172A"/>
                </a:solidFill>
              </a:rPr>
              <a:t>1. Intake</a:t>
            </a:r>
            <a:endParaRPr lang="en-US" sz="840" dirty="0"/>
          </a:p>
        </p:txBody>
      </p:sp>
      <p:sp>
        <p:nvSpPr>
          <p:cNvPr id="7" name="Text 5"/>
          <p:cNvSpPr/>
          <p:nvPr/>
        </p:nvSpPr>
        <p:spPr>
          <a:xfrm>
            <a:off x="704088" y="2313432"/>
            <a:ext cx="189463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64748B"/>
                </a:solidFill>
              </a:rPr>
              <a:t>select domain</a:t>
            </a:r>
            <a:endParaRPr lang="en-US" sz="740" dirty="0"/>
          </a:p>
        </p:txBody>
      </p:sp>
      <p:sp>
        <p:nvSpPr>
          <p:cNvPr id="8" name="Shape 6"/>
          <p:cNvSpPr/>
          <p:nvPr/>
        </p:nvSpPr>
        <p:spPr>
          <a:xfrm>
            <a:off x="2836469" y="1956816"/>
            <a:ext cx="2077517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7909" y="2112264"/>
            <a:ext cx="189463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0F172A"/>
                </a:solidFill>
              </a:rPr>
              <a:t>2. Diff</a:t>
            </a:r>
            <a:endParaRPr lang="en-US" sz="840" dirty="0"/>
          </a:p>
        </p:txBody>
      </p:sp>
      <p:sp>
        <p:nvSpPr>
          <p:cNvPr id="10" name="Text 8"/>
          <p:cNvSpPr/>
          <p:nvPr/>
        </p:nvSpPr>
        <p:spPr>
          <a:xfrm>
            <a:off x="2927909" y="2313432"/>
            <a:ext cx="189463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64748B"/>
                </a:solidFill>
              </a:rPr>
              <a:t>old → new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5060290" y="1956816"/>
            <a:ext cx="2077517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51730" y="2112264"/>
            <a:ext cx="189463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0F172A"/>
                </a:solidFill>
              </a:rPr>
              <a:t>3. Impact</a:t>
            </a:r>
            <a:endParaRPr lang="en-US" sz="840" dirty="0"/>
          </a:p>
        </p:txBody>
      </p:sp>
      <p:sp>
        <p:nvSpPr>
          <p:cNvPr id="13" name="Text 11"/>
          <p:cNvSpPr/>
          <p:nvPr/>
        </p:nvSpPr>
        <p:spPr>
          <a:xfrm>
            <a:off x="5151730" y="2313432"/>
            <a:ext cx="189463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64748B"/>
                </a:solidFill>
              </a:rPr>
              <a:t>teams + systems</a:t>
            </a:r>
            <a:endParaRPr lang="en-US" sz="740" dirty="0"/>
          </a:p>
        </p:txBody>
      </p:sp>
      <p:sp>
        <p:nvSpPr>
          <p:cNvPr id="14" name="Shape 12"/>
          <p:cNvSpPr/>
          <p:nvPr/>
        </p:nvSpPr>
        <p:spPr>
          <a:xfrm>
            <a:off x="7284110" y="1956816"/>
            <a:ext cx="2077517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75550" y="2112264"/>
            <a:ext cx="189463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0F172A"/>
                </a:solidFill>
              </a:rPr>
              <a:t>4. Rules</a:t>
            </a:r>
            <a:endParaRPr lang="en-US" sz="840" dirty="0"/>
          </a:p>
        </p:txBody>
      </p:sp>
      <p:sp>
        <p:nvSpPr>
          <p:cNvPr id="16" name="Text 14"/>
          <p:cNvSpPr/>
          <p:nvPr/>
        </p:nvSpPr>
        <p:spPr>
          <a:xfrm>
            <a:off x="7375550" y="2313432"/>
            <a:ext cx="189463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64748B"/>
                </a:solidFill>
              </a:rPr>
              <a:t>source-cited</a:t>
            </a:r>
            <a:endParaRPr lang="en-US" sz="740" dirty="0"/>
          </a:p>
        </p:txBody>
      </p:sp>
      <p:sp>
        <p:nvSpPr>
          <p:cNvPr id="17" name="Shape 15"/>
          <p:cNvSpPr/>
          <p:nvPr/>
        </p:nvSpPr>
        <p:spPr>
          <a:xfrm>
            <a:off x="9507931" y="1956816"/>
            <a:ext cx="2077517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99371" y="2112264"/>
            <a:ext cx="189463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0F172A"/>
                </a:solidFill>
              </a:rPr>
              <a:t>5. QA</a:t>
            </a:r>
            <a:endParaRPr lang="en-US" sz="840" dirty="0"/>
          </a:p>
        </p:txBody>
      </p:sp>
      <p:sp>
        <p:nvSpPr>
          <p:cNvPr id="19" name="Text 17"/>
          <p:cNvSpPr/>
          <p:nvPr/>
        </p:nvSpPr>
        <p:spPr>
          <a:xfrm>
            <a:off x="9599371" y="2313432"/>
            <a:ext cx="189463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64748B"/>
                </a:solidFill>
              </a:rPr>
              <a:t>test cases</a:t>
            </a:r>
            <a:endParaRPr lang="en-US" sz="740" dirty="0"/>
          </a:p>
        </p:txBody>
      </p:sp>
      <p:sp>
        <p:nvSpPr>
          <p:cNvPr id="20" name="Shape 18"/>
          <p:cNvSpPr/>
          <p:nvPr/>
        </p:nvSpPr>
        <p:spPr>
          <a:xfrm>
            <a:off x="612648" y="3044952"/>
            <a:ext cx="2077517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4088" y="3200400"/>
            <a:ext cx="189463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0F172A"/>
                </a:solidFill>
              </a:rPr>
              <a:t>6. Scenario</a:t>
            </a:r>
            <a:endParaRPr lang="en-US" sz="840" dirty="0"/>
          </a:p>
        </p:txBody>
      </p:sp>
      <p:sp>
        <p:nvSpPr>
          <p:cNvPr id="22" name="Text 20"/>
          <p:cNvSpPr/>
          <p:nvPr/>
        </p:nvSpPr>
        <p:spPr>
          <a:xfrm>
            <a:off x="704088" y="3401568"/>
            <a:ext cx="189463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64748B"/>
                </a:solidFill>
              </a:rPr>
              <a:t>synthetic run</a:t>
            </a:r>
            <a:endParaRPr lang="en-US" sz="740" dirty="0"/>
          </a:p>
        </p:txBody>
      </p:sp>
      <p:sp>
        <p:nvSpPr>
          <p:cNvPr id="23" name="Shape 21"/>
          <p:cNvSpPr/>
          <p:nvPr/>
        </p:nvSpPr>
        <p:spPr>
          <a:xfrm>
            <a:off x="2836469" y="3044952"/>
            <a:ext cx="2077517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27909" y="3200400"/>
            <a:ext cx="189463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0F172A"/>
                </a:solidFill>
              </a:rPr>
              <a:t>7. Review</a:t>
            </a:r>
            <a:endParaRPr lang="en-US" sz="840" dirty="0"/>
          </a:p>
        </p:txBody>
      </p:sp>
      <p:sp>
        <p:nvSpPr>
          <p:cNvPr id="25" name="Text 23"/>
          <p:cNvSpPr/>
          <p:nvPr/>
        </p:nvSpPr>
        <p:spPr>
          <a:xfrm>
            <a:off x="2927909" y="3401568"/>
            <a:ext cx="189463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64748B"/>
                </a:solidFill>
              </a:rPr>
              <a:t>approve / revise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5060290" y="3044952"/>
            <a:ext cx="2077517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51730" y="3200400"/>
            <a:ext cx="189463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0F172A"/>
                </a:solidFill>
              </a:rPr>
              <a:t>8. Audit</a:t>
            </a:r>
            <a:endParaRPr lang="en-US" sz="840" dirty="0"/>
          </a:p>
        </p:txBody>
      </p:sp>
      <p:sp>
        <p:nvSpPr>
          <p:cNvPr id="28" name="Text 26"/>
          <p:cNvSpPr/>
          <p:nvPr/>
        </p:nvSpPr>
        <p:spPr>
          <a:xfrm>
            <a:off x="5151730" y="3401568"/>
            <a:ext cx="189463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64748B"/>
                </a:solidFill>
              </a:rPr>
              <a:t>export JSON</a:t>
            </a:r>
            <a:endParaRPr lang="en-US" sz="740" dirty="0"/>
          </a:p>
        </p:txBody>
      </p:sp>
      <p:sp>
        <p:nvSpPr>
          <p:cNvPr id="29" name="Shape 27"/>
          <p:cNvSpPr/>
          <p:nvPr/>
        </p:nvSpPr>
        <p:spPr>
          <a:xfrm>
            <a:off x="7284110" y="3044952"/>
            <a:ext cx="2077517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75550" y="3200400"/>
            <a:ext cx="189463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0F172A"/>
                </a:solidFill>
              </a:rPr>
              <a:t>9. Roadmap</a:t>
            </a:r>
            <a:endParaRPr lang="en-US" sz="840" dirty="0"/>
          </a:p>
        </p:txBody>
      </p:sp>
      <p:sp>
        <p:nvSpPr>
          <p:cNvPr id="31" name="Text 29"/>
          <p:cNvSpPr/>
          <p:nvPr/>
        </p:nvSpPr>
        <p:spPr>
          <a:xfrm>
            <a:off x="7375550" y="3401568"/>
            <a:ext cx="189463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64748B"/>
                </a:solidFill>
              </a:rPr>
              <a:t>RAG + FHIR</a:t>
            </a:r>
            <a:endParaRPr lang="en-US" sz="740" dirty="0"/>
          </a:p>
        </p:txBody>
      </p:sp>
      <p:sp>
        <p:nvSpPr>
          <p:cNvPr id="32" name="Shape 30"/>
          <p:cNvSpPr/>
          <p:nvPr/>
        </p:nvSpPr>
        <p:spPr>
          <a:xfrm>
            <a:off x="9507931" y="3044952"/>
            <a:ext cx="2077517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599371" y="3200400"/>
            <a:ext cx="189463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0F172A"/>
                </a:solidFill>
              </a:rPr>
              <a:t>10. Guardrails</a:t>
            </a:r>
            <a:endParaRPr lang="en-US" sz="840" dirty="0"/>
          </a:p>
        </p:txBody>
      </p:sp>
      <p:sp>
        <p:nvSpPr>
          <p:cNvPr id="34" name="Text 32"/>
          <p:cNvSpPr/>
          <p:nvPr/>
        </p:nvSpPr>
        <p:spPr>
          <a:xfrm>
            <a:off x="9599371" y="3401568"/>
            <a:ext cx="189463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64748B"/>
                </a:solidFill>
              </a:rPr>
              <a:t>no PHI</a:t>
            </a:r>
            <a:endParaRPr lang="en-US" sz="740" dirty="0"/>
          </a:p>
        </p:txBody>
      </p:sp>
      <p:sp>
        <p:nvSpPr>
          <p:cNvPr id="35" name="Shape 33"/>
          <p:cNvSpPr/>
          <p:nvPr/>
        </p:nvSpPr>
        <p:spPr>
          <a:xfrm>
            <a:off x="749808" y="4709160"/>
            <a:ext cx="32918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49808" y="4709160"/>
            <a:ext cx="73152" cy="7315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50976" y="484632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50976" y="5148072"/>
            <a:ext cx="29260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 package + QA tests + scenario result + reviewer notes + audit trail</a:t>
            </a:r>
            <a:endParaRPr lang="en-US" sz="920" dirty="0"/>
          </a:p>
        </p:txBody>
      </p:sp>
      <p:sp>
        <p:nvSpPr>
          <p:cNvPr id="39" name="Shape 37"/>
          <p:cNvSpPr/>
          <p:nvPr/>
        </p:nvSpPr>
        <p:spPr>
          <a:xfrm>
            <a:off x="4462272" y="4709160"/>
            <a:ext cx="32918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462272" y="4709160"/>
            <a:ext cx="73152" cy="7315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63440" y="484632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663440" y="5148072"/>
            <a:ext cx="29260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Candidate rules remain draft until validated by humans</a:t>
            </a:r>
            <a:endParaRPr lang="en-US" sz="920" dirty="0"/>
          </a:p>
        </p:txBody>
      </p:sp>
      <p:sp>
        <p:nvSpPr>
          <p:cNvPr id="43" name="Shape 41"/>
          <p:cNvSpPr/>
          <p:nvPr/>
        </p:nvSpPr>
        <p:spPr>
          <a:xfrm>
            <a:off x="8174736" y="4709160"/>
            <a:ext cx="32918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174736" y="4709160"/>
            <a:ext cx="73152" cy="7315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375904" y="484632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8375904" y="5148072"/>
            <a:ext cx="29260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Faster implementation with stronger traceability</a:t>
            </a:r>
            <a:endParaRPr lang="en-US" sz="9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8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POC STATUS</a:t>
            </a:r>
            <a:endParaRPr lang="en-US" sz="88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app readiness: what the build contains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94360" y="109728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Claude’s final React/TypeScript build was inspected, installed, tested, and built successfully.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13232" y="1828800"/>
            <a:ext cx="187452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99339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563EB"/>
                </a:solidFill>
              </a:rPr>
              <a:t>7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50392" y="248716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334155"/>
                </a:solidFill>
              </a:rPr>
              <a:t>policy domains</a:t>
            </a:r>
            <a:endParaRPr lang="en-US" sz="960" dirty="0"/>
          </a:p>
        </p:txBody>
      </p:sp>
      <p:sp>
        <p:nvSpPr>
          <p:cNvPr id="8" name="Shape 6"/>
          <p:cNvSpPr/>
          <p:nvPr/>
        </p:nvSpPr>
        <p:spPr>
          <a:xfrm>
            <a:off x="2971800" y="1828800"/>
            <a:ext cx="187452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0" y="199339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766E"/>
                </a:solidFill>
              </a:rPr>
              <a:t>33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248716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334155"/>
                </a:solidFill>
              </a:rPr>
              <a:t>candidate rules</a:t>
            </a:r>
            <a:endParaRPr lang="en-US" sz="960" dirty="0"/>
          </a:p>
        </p:txBody>
      </p:sp>
      <p:sp>
        <p:nvSpPr>
          <p:cNvPr id="11" name="Shape 9"/>
          <p:cNvSpPr/>
          <p:nvPr/>
        </p:nvSpPr>
        <p:spPr>
          <a:xfrm>
            <a:off x="5230368" y="1828800"/>
            <a:ext cx="187452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67528" y="199339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</a:rPr>
              <a:t>23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67528" y="248716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334155"/>
                </a:solidFill>
              </a:rPr>
              <a:t>synthetic cases</a:t>
            </a:r>
            <a:endParaRPr lang="en-US" sz="960" dirty="0"/>
          </a:p>
        </p:txBody>
      </p:sp>
      <p:sp>
        <p:nvSpPr>
          <p:cNvPr id="14" name="Shape 12"/>
          <p:cNvSpPr/>
          <p:nvPr/>
        </p:nvSpPr>
        <p:spPr>
          <a:xfrm>
            <a:off x="7488936" y="1828800"/>
            <a:ext cx="187452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26096" y="199339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C3AED"/>
                </a:solidFill>
              </a:rPr>
              <a:t>27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626096" y="248716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334155"/>
                </a:solidFill>
              </a:rPr>
              <a:t>changed clauses</a:t>
            </a:r>
            <a:endParaRPr lang="en-US" sz="960" dirty="0"/>
          </a:p>
        </p:txBody>
      </p:sp>
      <p:sp>
        <p:nvSpPr>
          <p:cNvPr id="17" name="Shape 15"/>
          <p:cNvSpPr/>
          <p:nvPr/>
        </p:nvSpPr>
        <p:spPr>
          <a:xfrm>
            <a:off x="9747504" y="1828800"/>
            <a:ext cx="187452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84664" y="199339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6A34A"/>
                </a:solidFill>
              </a:rPr>
              <a:t>33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884664" y="248716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334155"/>
                </a:solidFill>
              </a:rPr>
              <a:t>tests passed</a:t>
            </a:r>
            <a:endParaRPr lang="en-US" sz="960" dirty="0"/>
          </a:p>
        </p:txBody>
      </p:sp>
      <p:sp>
        <p:nvSpPr>
          <p:cNvPr id="20" name="Shape 18"/>
          <p:cNvSpPr/>
          <p:nvPr/>
        </p:nvSpPr>
        <p:spPr>
          <a:xfrm>
            <a:off x="749808" y="3703320"/>
            <a:ext cx="33832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9808" y="3703320"/>
            <a:ext cx="73152" cy="13258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0976" y="384048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Fully functional pages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50976" y="4142232"/>
            <a:ext cx="3017520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Command Center, Policy Library, Version Diff, Impact Map, Rule Studio, Scenario Lab, QA Tests, Reviewer Queue, Audit Pack, Future Add-ons, Responsible Use.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4425696" y="3703320"/>
            <a:ext cx="33832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25696" y="3703320"/>
            <a:ext cx="73152" cy="13258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26864" y="384048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626864" y="4142232"/>
            <a:ext cx="3017520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npm install completed. Vitest suite passed. TypeScript production build completed successfully.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8101584" y="3703320"/>
            <a:ext cx="33832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01584" y="3703320"/>
            <a:ext cx="73152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02752" y="384048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Submission framing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302752" y="4142232"/>
            <a:ext cx="3017520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 it a production-grade prototype, not a production healthcare decision system.</a:t>
            </a:r>
            <a:endParaRPr lang="en-US" sz="9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8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SCENARIO</a:t>
            </a:r>
            <a:endParaRPr lang="en-US" sz="88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 workflow: Imaging Prior Authorization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94360" y="1133856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A synthetic policy update changes permissive language into measurable operational criteria.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13232" y="1828800"/>
            <a:ext cx="347472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828800"/>
            <a:ext cx="73152" cy="12618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6596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 Diff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2267712"/>
            <a:ext cx="3108960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“Clinical notes should be submitted” → “Clinical notes must be included.”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“Therapy may be considered” → “six weeks required unless urgent.”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4352544" y="1828800"/>
            <a:ext cx="347472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52544" y="1828800"/>
            <a:ext cx="73152" cy="126187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53712" y="196596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 Studio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53712" y="2267712"/>
            <a:ext cx="3108960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R-IMG-003: therapy weeks ≥ 6 unless urgent.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R-IMG-004: clinical notes required.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rule has a source clause.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7991856" y="1828800"/>
            <a:ext cx="347472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91856" y="1828800"/>
            <a:ext cx="73152" cy="12618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93024" y="196596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Lab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193024" y="2267712"/>
            <a:ext cx="3108960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Default case: age 52, 5 weeks therapy, notes present, not urgent → missing criteria.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731520" y="369417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Decision simulation output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49808" y="4041648"/>
            <a:ext cx="10716768" cy="877824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24128" y="427939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NOT_APPROVED_MISSING_CRITERIA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60520" y="422452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Reason: 5 weeks documented; policy requires at least 6 weeks unless urgent. Next action: route to human reviewer with specific missing criterion.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024128" y="5047488"/>
            <a:ext cx="9966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16A34A"/>
                </a:solidFill>
              </a:rPr>
              <a:t>Change therapy weeks to 6 → result becomes CRITERIA_MET_HUMAN_REVIEW_REQUIRED.</a:t>
            </a:r>
            <a:endParaRPr lang="en-US" sz="11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8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STRATEGIC VALUE</a:t>
            </a:r>
            <a:endParaRPr lang="en-US" sz="88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makes it company-usable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94360" y="1133856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The prototype supports real operational tasks that payer analytics and payment integrity organizations face.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87452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874520"/>
            <a:ext cx="73152" cy="1828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201168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Ops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32688" y="2313432"/>
            <a:ext cx="2240280" cy="1261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See what changed, why it matters, and which rules need review.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3566160" y="187452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66160" y="1874520"/>
            <a:ext cx="73152" cy="18288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67328" y="201168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Payment Integrity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767328" y="2313432"/>
            <a:ext cx="2240280" cy="1261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Convert coding/documentation policy into structured edit logic and QA cases.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6400800" y="187452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874520"/>
            <a:ext cx="73152" cy="1828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01968" y="201168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Compliance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01968" y="2313432"/>
            <a:ext cx="2240280" cy="1261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 every output back to source language and reviewer actions.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9235440" y="1874520"/>
            <a:ext cx="20574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235440" y="1874520"/>
            <a:ext cx="73152" cy="1828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36608" y="201168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436608" y="2313432"/>
            <a:ext cx="1691640" cy="1261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Receive rule packages, test cases, and implementation notes.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749808" y="43159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Operational metrics to measure</a:t>
            </a:r>
            <a:endParaRPr lang="en-US" sz="130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777240" y="4590288"/>
          <a:ext cx="4709160" cy="1005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3" name="Text 20"/>
          <p:cNvSpPr/>
          <p:nvPr/>
        </p:nvSpPr>
        <p:spPr>
          <a:xfrm>
            <a:off x="5852160" y="472744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Goal: faster implementation without sacrificing governance.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5870448" y="539496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The product makes the handoff from policy to operations more structured, testable, and explainable.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8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CONTROLS</a:t>
            </a:r>
            <a:endParaRPr lang="en-US" sz="88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Governance is the feature, not an afterthought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94360" y="1133856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Healthcare AI should accelerate interpretation, but not silently turn draft logic into operational decisions.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33375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828800"/>
            <a:ext cx="73152" cy="9601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1965960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Risk: hallucinated rules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32688" y="2267712"/>
            <a:ext cx="2971800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Mitigation: source-clause traceability and SME approval before use.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4425696" y="1828800"/>
            <a:ext cx="33375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25696" y="1828800"/>
            <a:ext cx="73152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26864" y="1965960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Risk: outdated policy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26864" y="2267712"/>
            <a:ext cx="2971800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Mitigation: version metadata, effective date, change log, and audit package.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8119872" y="1828800"/>
            <a:ext cx="33375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19872" y="1828800"/>
            <a:ext cx="73152" cy="960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1965960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Risk: over-automation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321040" y="2267712"/>
            <a:ext cx="2971800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Mitigation: human-in-the-loop rule status and responsible-use boundaries.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731520" y="3154680"/>
            <a:ext cx="33375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3154680"/>
            <a:ext cx="73152" cy="9601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" y="3291840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Risk: PHI exposure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32688" y="3593592"/>
            <a:ext cx="2971800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Mitigation: synthetic-only MVP and no external API calls.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4425696" y="3154680"/>
            <a:ext cx="33375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25696" y="3154680"/>
            <a:ext cx="73152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26864" y="3291840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Risk: inconsistent review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626864" y="3593592"/>
            <a:ext cx="2971800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Mitigation: QA tests, reviewer notes, status queue, and expected outputs.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8119872" y="3154680"/>
            <a:ext cx="33375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19872" y="3154680"/>
            <a:ext cx="73152" cy="9601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21040" y="3291840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Risk: audit gaps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321040" y="3593592"/>
            <a:ext cx="2971800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Mitigation: exportable audit pack linking policy → rule → result.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1874520" y="4919472"/>
            <a:ext cx="8458200" cy="658368"/>
          </a:xfrm>
          <a:prstGeom prst="roundRect">
            <a:avLst>
              <a:gd name="adj" fmla="val 12500"/>
            </a:avLst>
          </a:prstGeom>
          <a:solidFill>
            <a:srgbClr val="CCFBF1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011680" y="5138928"/>
            <a:ext cx="8183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766E"/>
                </a:solidFill>
              </a:rPr>
              <a:t>Boundary: no PHI, no real payment decisions, no coverage decisions, no autonomous denial engine.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8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ROADMAP</a:t>
            </a:r>
            <a:endParaRPr lang="en-US" sz="88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Future add-ons: advanced AI without unsafe shortcuts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94360" y="1133856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The current build is deterministic and fully local. Future work can add AI only behind retrieval, validation, and governance controls.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1783080"/>
            <a:ext cx="105613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956816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2563EB"/>
                </a:solidFill>
              </a:rPr>
              <a:t>Phase 1</a:t>
            </a:r>
            <a:endParaRPr lang="en-US" sz="840" dirty="0"/>
          </a:p>
        </p:txBody>
      </p:sp>
      <p:sp>
        <p:nvSpPr>
          <p:cNvPr id="7" name="Text 5"/>
          <p:cNvSpPr/>
          <p:nvPr/>
        </p:nvSpPr>
        <p:spPr>
          <a:xfrm>
            <a:off x="2331720" y="1911096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Current prototype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480560" y="1911096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334155"/>
                </a:solidFill>
              </a:rPr>
              <a:t>7 domains, rules, cases, QA tests, reviewer queue, audit export</a:t>
            </a:r>
            <a:endParaRPr lang="en-US" sz="930" dirty="0"/>
          </a:p>
        </p:txBody>
      </p:sp>
      <p:sp>
        <p:nvSpPr>
          <p:cNvPr id="9" name="Shape 7"/>
          <p:cNvSpPr/>
          <p:nvPr/>
        </p:nvSpPr>
        <p:spPr>
          <a:xfrm>
            <a:off x="822960" y="2624328"/>
            <a:ext cx="105613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2798064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0F766E"/>
                </a:solidFill>
              </a:rPr>
              <a:t>Phase 2</a:t>
            </a:r>
            <a:endParaRPr lang="en-US" sz="840" dirty="0"/>
          </a:p>
        </p:txBody>
      </p:sp>
      <p:sp>
        <p:nvSpPr>
          <p:cNvPr id="11" name="Text 9"/>
          <p:cNvSpPr/>
          <p:nvPr/>
        </p:nvSpPr>
        <p:spPr>
          <a:xfrm>
            <a:off x="2331720" y="275234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AI extraction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480560" y="2752344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334155"/>
                </a:solidFill>
              </a:rPr>
              <a:t>LLM-assisted clause classification with confidence and SME validation</a:t>
            </a:r>
            <a:endParaRPr lang="en-US" sz="930" dirty="0"/>
          </a:p>
        </p:txBody>
      </p:sp>
      <p:sp>
        <p:nvSpPr>
          <p:cNvPr id="13" name="Shape 11"/>
          <p:cNvSpPr/>
          <p:nvPr/>
        </p:nvSpPr>
        <p:spPr>
          <a:xfrm>
            <a:off x="822960" y="3465576"/>
            <a:ext cx="105613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4128" y="3639312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7C3AED"/>
                </a:solidFill>
              </a:rPr>
              <a:t>Phase 3</a:t>
            </a:r>
            <a:endParaRPr lang="en-US" sz="840" dirty="0"/>
          </a:p>
        </p:txBody>
      </p:sp>
      <p:sp>
        <p:nvSpPr>
          <p:cNvPr id="15" name="Text 13"/>
          <p:cNvSpPr/>
          <p:nvPr/>
        </p:nvSpPr>
        <p:spPr>
          <a:xfrm>
            <a:off x="2331720" y="359359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RAG assistant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480560" y="3593592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334155"/>
                </a:solidFill>
              </a:rPr>
              <a:t>Source-grounded policy chat with citations and “no answer” behavior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822960" y="4306824"/>
            <a:ext cx="105613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24128" y="4480560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59E0B"/>
                </a:solidFill>
              </a:rPr>
              <a:t>Phase 4</a:t>
            </a:r>
            <a:endParaRPr lang="en-US" sz="840" dirty="0"/>
          </a:p>
        </p:txBody>
      </p:sp>
      <p:sp>
        <p:nvSpPr>
          <p:cNvPr id="19" name="Text 17"/>
          <p:cNvSpPr/>
          <p:nvPr/>
        </p:nvSpPr>
        <p:spPr>
          <a:xfrm>
            <a:off x="2331720" y="443484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FHIR alignment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480560" y="4434840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334155"/>
                </a:solidFill>
              </a:rPr>
              <a:t>Da Vinci CRD/DTR/PAS mapping and documentation templates</a:t>
            </a:r>
            <a:endParaRPr lang="en-US" sz="930" dirty="0"/>
          </a:p>
        </p:txBody>
      </p:sp>
      <p:sp>
        <p:nvSpPr>
          <p:cNvPr id="21" name="Shape 19"/>
          <p:cNvSpPr/>
          <p:nvPr/>
        </p:nvSpPr>
        <p:spPr>
          <a:xfrm>
            <a:off x="822960" y="5148072"/>
            <a:ext cx="105613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24128" y="532180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6A34A"/>
                </a:solidFill>
              </a:rPr>
              <a:t>Phase 5</a:t>
            </a:r>
            <a:endParaRPr lang="en-US" sz="840" dirty="0"/>
          </a:p>
        </p:txBody>
      </p:sp>
      <p:sp>
        <p:nvSpPr>
          <p:cNvPr id="23" name="Text 21"/>
          <p:cNvSpPr/>
          <p:nvPr/>
        </p:nvSpPr>
        <p:spPr>
          <a:xfrm>
            <a:off x="2331720" y="527608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Enterprise readiness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480560" y="5276088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334155"/>
                </a:solidFill>
              </a:rPr>
              <a:t>RBAC, database audit logs, APIs, monitoring, model evaluation</a:t>
            </a:r>
            <a:endParaRPr lang="en-US" sz="9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8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</a:t>
            </a:r>
            <a:endParaRPr lang="en-US" sz="88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Closing: what this submission proves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21792" y="1170432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PolicyLens Workbench proves a practical direction for healthcare AI: governed content management that makes policy faster to operationalize, safer to audit, and easier to explain.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77240" y="2240280"/>
            <a:ext cx="33375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240280"/>
            <a:ext cx="73152" cy="1234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2377440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understanding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78408" y="2679192"/>
            <a:ext cx="2971800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product targets a real payer operations bottleneck, not a generic AI demo.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4425696" y="2240280"/>
            <a:ext cx="33375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25696" y="2240280"/>
            <a:ext cx="73152" cy="12344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26864" y="2377440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 proof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26864" y="2679192"/>
            <a:ext cx="2971800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React/TypeScript app with deterministic logic, seeded data, tests, and build verification.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8074152" y="2240280"/>
            <a:ext cx="33375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74152" y="2240280"/>
            <a:ext cx="73152" cy="12344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75320" y="2377440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Responsible design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75320" y="2679192"/>
            <a:ext cx="2971800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Synthetic-only, human-in-the-loop, source-cited, and audit-first.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2194560" y="4343400"/>
            <a:ext cx="7863840" cy="859536"/>
          </a:xfrm>
          <a:prstGeom prst="roundRect">
            <a:avLst>
              <a:gd name="adj" fmla="val 12766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95728" y="4599432"/>
            <a:ext cx="7452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The goal is not to replace reviewers. The goal is to give policy, compliance, operations, and engineering teams a shared, auditable operating layer.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8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University of Arizona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PolicyLens Workbench</dc:title>
  <dc:subject>Cotiviti Intern Assessment - PolicyLens Workbench</dc:subject>
  <dc:creator>Gaurvendra Pratap Singh Pundhir</dc:creator>
  <cp:lastModifiedBy>Gaurvendra Pratap Singh Pundhir</cp:lastModifiedBy>
  <cp:revision>1</cp:revision>
  <dcterms:created xsi:type="dcterms:W3CDTF">2026-06-28T07:35:18Z</dcterms:created>
  <dcterms:modified xsi:type="dcterms:W3CDTF">2026-06-28T07:35:18Z</dcterms:modified>
</cp:coreProperties>
</file>